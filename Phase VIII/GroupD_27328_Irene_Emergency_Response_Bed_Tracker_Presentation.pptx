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1" d="100"/>
          <a:sy n="71" d="100"/>
        </p:scale>
        <p:origin x="114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3B0303-7832-4061-A041-3CBA83B4F827}" type="datetimeFigureOut">
              <a:rPr lang="en-US" smtClean="0"/>
              <a:t>12/19/2025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7CAEDD-36E0-46D1-8DFE-7DA607EC1C2E}" type="slidenum">
              <a:rPr lang="en-US" smtClean="0"/>
              <a:t>‹#›</a:t>
            </a:fld>
            <a:endParaRPr lang="en-US"/>
          </a:p>
        </p:txBody>
      </p:sp>
    </p:spTree>
    <p:extLst>
      <p:ext uri="{BB962C8B-B14F-4D97-AF65-F5344CB8AC3E}">
        <p14:creationId xmlns:p14="http://schemas.microsoft.com/office/powerpoint/2010/main" val="4171451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7CAEDD-36E0-46D1-8DFE-7DA607EC1C2E}" type="slidenum">
              <a:rPr lang="en-US" smtClean="0"/>
              <a:t>4</a:t>
            </a:fld>
            <a:endParaRPr lang="en-US"/>
          </a:p>
        </p:txBody>
      </p:sp>
    </p:spTree>
    <p:extLst>
      <p:ext uri="{BB962C8B-B14F-4D97-AF65-F5344CB8AC3E}">
        <p14:creationId xmlns:p14="http://schemas.microsoft.com/office/powerpoint/2010/main" val="3933736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7CAEDD-36E0-46D1-8DFE-7DA607EC1C2E}" type="slidenum">
              <a:rPr lang="en-US" smtClean="0"/>
              <a:t>9</a:t>
            </a:fld>
            <a:endParaRPr lang="en-US"/>
          </a:p>
        </p:txBody>
      </p:sp>
    </p:spTree>
    <p:extLst>
      <p:ext uri="{BB962C8B-B14F-4D97-AF65-F5344CB8AC3E}">
        <p14:creationId xmlns:p14="http://schemas.microsoft.com/office/powerpoint/2010/main" val="3839610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0347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61848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5883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1117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4032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4221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9720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0011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84586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7517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18066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12/19/2025</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615278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Emergency Response and Bed Availability Tracker</a:t>
            </a:r>
          </a:p>
        </p:txBody>
      </p:sp>
      <p:sp>
        <p:nvSpPr>
          <p:cNvPr id="3" name="Content Placeholder 2"/>
          <p:cNvSpPr>
            <a:spLocks noGrp="1"/>
          </p:cNvSpPr>
          <p:nvPr>
            <p:ph idx="1"/>
          </p:nvPr>
        </p:nvSpPr>
        <p:spPr/>
        <p:txBody>
          <a:bodyPr>
            <a:normAutofit lnSpcReduction="10000"/>
          </a:bodyPr>
          <a:lstStyle/>
          <a:p>
            <a:r>
              <a:rPr lang="en-US" dirty="0"/>
              <a:t>Name: </a:t>
            </a:r>
            <a:r>
              <a:rPr dirty="0"/>
              <a:t>Igiraneza Irene</a:t>
            </a:r>
          </a:p>
          <a:p>
            <a:r>
              <a:rPr lang="en-US" dirty="0"/>
              <a:t>Student </a:t>
            </a:r>
            <a:r>
              <a:rPr dirty="0"/>
              <a:t>ID: 27328</a:t>
            </a:r>
          </a:p>
          <a:p>
            <a:r>
              <a:rPr lang="en-US" dirty="0"/>
              <a:t>Institution: </a:t>
            </a:r>
            <a:r>
              <a:rPr dirty="0"/>
              <a:t>AUCA</a:t>
            </a:r>
          </a:p>
          <a:p>
            <a:r>
              <a:rPr lang="en-US" dirty="0"/>
              <a:t>Date: 19 December </a:t>
            </a:r>
            <a:r>
              <a:rPr dirty="0"/>
              <a:t>2025</a:t>
            </a:r>
            <a:endParaRPr lang="en-US" dirty="0"/>
          </a:p>
          <a:p>
            <a:r>
              <a:rPr lang="en-US" dirty="0"/>
              <a:t>Course: PL/SQL Database Management</a:t>
            </a:r>
          </a:p>
          <a:p>
            <a:r>
              <a:rPr lang="en-US" dirty="0" err="1"/>
              <a:t>Github</a:t>
            </a:r>
            <a:r>
              <a:rPr lang="en-US" dirty="0"/>
              <a:t> Link: </a:t>
            </a:r>
            <a:r>
              <a:rPr lang="en-US" dirty="0">
                <a:hlinkClick r:id="" action="ppaction://hlinkshowjump?jump=firstslide"/>
              </a:rPr>
              <a:t>https://github.com/ni-irene/thurs_27328_irene_emergency_response_and_bed_availability_-tracker_db</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a:xfrm>
            <a:off x="1443491" y="2015733"/>
            <a:ext cx="7521215" cy="3450613"/>
          </a:xfrm>
        </p:spPr>
        <p:txBody>
          <a:bodyPr>
            <a:normAutofit fontScale="85000" lnSpcReduction="20000"/>
          </a:bodyPr>
          <a:lstStyle/>
          <a:p>
            <a:r>
              <a:rPr lang="en-US" dirty="0"/>
              <a:t>In many hospitals, emergency patients often face delays due to poor tracking of available beds across wards. When critical cases arrive, staff must manually check which ward or unit has space, which wastes valuable time and can risk patient lives. This project aims to solve that problem by developing a PL/SQL-based Emergency Response and Bed Availability Tracker that keeps real-time records of hospital beds, patients, and admissions. It will automatically update bed status when patients are admitted or discharged and send alerts when beds are nearly full or all occupied.</a:t>
            </a:r>
          </a:p>
          <a:p>
            <a:r>
              <a:rPr dirty="0"/>
              <a:t>- Manual bed tracking causes delays</a:t>
            </a:r>
          </a:p>
          <a:p>
            <a:r>
              <a:rPr dirty="0"/>
              <a:t>- Emergency patients risk delays</a:t>
            </a:r>
          </a:p>
          <a:p>
            <a:r>
              <a:rPr dirty="0"/>
              <a:t>- Poor visibility of bed availability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521"/>
            <a:ext cx="6535097" cy="1006350"/>
          </a:xfrm>
        </p:spPr>
        <p:txBody>
          <a:bodyPr/>
          <a:lstStyle/>
          <a:p>
            <a:r>
              <a:t>Proposed Solution</a:t>
            </a:r>
          </a:p>
        </p:txBody>
      </p:sp>
      <p:sp>
        <p:nvSpPr>
          <p:cNvPr id="3" name="Content Placeholder 2"/>
          <p:cNvSpPr>
            <a:spLocks noGrp="1"/>
          </p:cNvSpPr>
          <p:nvPr>
            <p:ph idx="1"/>
          </p:nvPr>
        </p:nvSpPr>
        <p:spPr>
          <a:xfrm>
            <a:off x="1443492" y="2015732"/>
            <a:ext cx="6848862" cy="4037747"/>
          </a:xfrm>
        </p:spPr>
        <p:txBody>
          <a:bodyPr>
            <a:normAutofit fontScale="55000" lnSpcReduction="20000"/>
          </a:bodyPr>
          <a:lstStyle/>
          <a:p>
            <a:r>
              <a:rPr lang="en-US" dirty="0"/>
              <a:t>The system will use PL/SQL procedures, functions, and triggers to manage and automate hospital bed allocation and emergency admissions. </a:t>
            </a:r>
          </a:p>
          <a:p>
            <a:r>
              <a:rPr lang="en-US" dirty="0"/>
              <a:t>Key features include: </a:t>
            </a:r>
          </a:p>
          <a:p>
            <a:r>
              <a:rPr lang="en-US" dirty="0"/>
              <a:t>• Automatic bed status updates: When a patient is admitted, the corresponding bed is marked as 'Occupied’. </a:t>
            </a:r>
          </a:p>
          <a:p>
            <a:r>
              <a:rPr lang="en-US" dirty="0"/>
              <a:t>• Instant alerts: A trigger sends a notification (stored message or log entry) when a ward reaches full capacity. </a:t>
            </a:r>
          </a:p>
          <a:p>
            <a:r>
              <a:rPr lang="en-US" dirty="0"/>
              <a:t>• Emergency priority logic: Patients labeled as 'Emergency' are prioritized for available beds. </a:t>
            </a:r>
          </a:p>
          <a:p>
            <a:r>
              <a:rPr lang="en-US" dirty="0"/>
              <a:t>• Daily reports: A stored procedure generates a daily summary of available beds and admissions. </a:t>
            </a:r>
          </a:p>
          <a:p>
            <a:r>
              <a:rPr lang="en-US" dirty="0"/>
              <a:t>• Error handling: The system prevents double-booking of the same bed. This system will assist hospital administrators and emergency response units in making quick and accurate decisions during critical situations. </a:t>
            </a:r>
          </a:p>
          <a:p>
            <a:r>
              <a:rPr dirty="0"/>
              <a:t>- Automated bed tracking</a:t>
            </a:r>
          </a:p>
          <a:p>
            <a:r>
              <a:rPr dirty="0"/>
              <a:t>- Emergency prioritization</a:t>
            </a:r>
          </a:p>
          <a:p>
            <a:r>
              <a:rPr dirty="0"/>
              <a:t>- Real-time updates</a:t>
            </a:r>
          </a:p>
          <a:p>
            <a:r>
              <a:rPr dirty="0"/>
              <a:t>- Audit and compliance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0" y="804520"/>
            <a:ext cx="6588883" cy="818092"/>
          </a:xfrm>
        </p:spPr>
        <p:txBody>
          <a:bodyPr>
            <a:normAutofit fontScale="90000"/>
          </a:bodyPr>
          <a:lstStyle/>
          <a:p>
            <a:r>
              <a:rPr dirty="0"/>
              <a:t>Database Design</a:t>
            </a:r>
            <a:r>
              <a:rPr lang="en-US" dirty="0"/>
              <a:t> </a:t>
            </a:r>
            <a:br>
              <a:rPr lang="en-US" dirty="0"/>
            </a:br>
            <a:endParaRPr dirty="0"/>
          </a:p>
        </p:txBody>
      </p:sp>
      <p:pic>
        <p:nvPicPr>
          <p:cNvPr id="6" name="Picture 5">
            <a:extLst>
              <a:ext uri="{FF2B5EF4-FFF2-40B4-BE49-F238E27FC236}">
                <a16:creationId xmlns:a16="http://schemas.microsoft.com/office/drawing/2014/main" id="{5B05A249-F1BD-2874-2D28-6A41A3D832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3491" y="1356568"/>
            <a:ext cx="7610862" cy="4696912"/>
          </a:xfrm>
          <a:prstGeom prst="rect">
            <a:avLst/>
          </a:prstGeom>
        </p:spPr>
      </p:pic>
      <p:sp>
        <p:nvSpPr>
          <p:cNvPr id="9" name="TextBox 8">
            <a:extLst>
              <a:ext uri="{FF2B5EF4-FFF2-40B4-BE49-F238E27FC236}">
                <a16:creationId xmlns:a16="http://schemas.microsoft.com/office/drawing/2014/main" id="{A98A044C-7F65-02F8-DAAC-962BFAD1AE0E}"/>
              </a:ext>
            </a:extLst>
          </p:cNvPr>
          <p:cNvSpPr txBox="1"/>
          <p:nvPr/>
        </p:nvSpPr>
        <p:spPr>
          <a:xfrm rot="10800000" flipV="1">
            <a:off x="-3" y="4132300"/>
            <a:ext cx="1443493" cy="160043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WARDS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BEDS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PATIENTS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ADMISSIONS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AUDIT_LOG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PUBLIC_HOLIDAYS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521"/>
            <a:ext cx="6571343" cy="486398"/>
          </a:xfrm>
        </p:spPr>
        <p:txBody>
          <a:bodyPr>
            <a:normAutofit fontScale="90000"/>
          </a:bodyPr>
          <a:lstStyle/>
          <a:p>
            <a:r>
              <a:t>Business Process</a:t>
            </a:r>
          </a:p>
        </p:txBody>
      </p:sp>
      <p:pic>
        <p:nvPicPr>
          <p:cNvPr id="4" name="Picture 3">
            <a:extLst>
              <a:ext uri="{FF2B5EF4-FFF2-40B4-BE49-F238E27FC236}">
                <a16:creationId xmlns:a16="http://schemas.microsoft.com/office/drawing/2014/main" id="{BB0E039E-0441-D7A2-5D67-7E1025045F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3491" y="1318852"/>
            <a:ext cx="6571343" cy="4126273"/>
          </a:xfrm>
          <a:prstGeom prst="rect">
            <a:avLst/>
          </a:prstGeom>
        </p:spPr>
      </p:pic>
      <p:sp>
        <p:nvSpPr>
          <p:cNvPr id="6" name="TextBox 5">
            <a:extLst>
              <a:ext uri="{FF2B5EF4-FFF2-40B4-BE49-F238E27FC236}">
                <a16:creationId xmlns:a16="http://schemas.microsoft.com/office/drawing/2014/main" id="{5B439B34-627D-B678-E94C-1267BC10E71B}"/>
              </a:ext>
            </a:extLst>
          </p:cNvPr>
          <p:cNvSpPr txBox="1"/>
          <p:nvPr/>
        </p:nvSpPr>
        <p:spPr>
          <a:xfrm>
            <a:off x="1" y="1318852"/>
            <a:ext cx="1443490" cy="2470228"/>
          </a:xfrm>
          <a:prstGeom prst="rect">
            <a:avLst/>
          </a:prstGeom>
          <a:noFill/>
        </p:spPr>
        <p:txBody>
          <a:bodyPr wrap="square">
            <a:spAutoFit/>
          </a:bodyPr>
          <a:lstStyle/>
          <a:p>
            <a:pPr marR="0" lvl="0">
              <a:lnSpc>
                <a:spcPct val="115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Patient arrives</a:t>
            </a:r>
          </a:p>
          <a:p>
            <a:pPr marR="0" lvl="0">
              <a:lnSpc>
                <a:spcPct val="115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Bed availability checked</a:t>
            </a:r>
          </a:p>
          <a:p>
            <a:pPr marR="0" lvl="0">
              <a:lnSpc>
                <a:spcPct val="115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-Emergency prioritized</a:t>
            </a:r>
          </a:p>
          <a:p>
            <a:pPr marR="0" lvl="0">
              <a:lnSpc>
                <a:spcPct val="115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Bed status updated</a:t>
            </a:r>
          </a:p>
          <a:p>
            <a:pPr marR="0" lvl="0">
              <a:lnSpc>
                <a:spcPct val="115000"/>
              </a:lnSpc>
              <a:spcAft>
                <a:spcPts val="800"/>
              </a:spcAft>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Audit recorded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p:nvPr>
        </p:nvSpPr>
        <p:spPr/>
        <p:txBody>
          <a:bodyPr/>
          <a:lstStyle/>
          <a:p>
            <a:r>
              <a:rPr dirty="0"/>
              <a:t>- Oracle Database 21c XE</a:t>
            </a:r>
          </a:p>
          <a:p>
            <a:r>
              <a:rPr dirty="0"/>
              <a:t>- PL/SQL</a:t>
            </a:r>
          </a:p>
          <a:p>
            <a:r>
              <a:rPr dirty="0"/>
              <a:t>- SQL Developer</a:t>
            </a:r>
          </a:p>
          <a:p>
            <a:r>
              <a:rPr dirty="0"/>
              <a:t>- Triggers, Packages</a:t>
            </a:r>
            <a:r>
              <a:rPr lang="en-US" dirty="0"/>
              <a:t> and Functions</a:t>
            </a:r>
            <a:endParaRPr dirty="0"/>
          </a:p>
          <a:p>
            <a:r>
              <a:rPr dirty="0"/>
              <a:t>- GitHub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Advanced Features</a:t>
            </a:r>
          </a:p>
        </p:txBody>
      </p:sp>
      <p:sp>
        <p:nvSpPr>
          <p:cNvPr id="3" name="Content Placeholder 2"/>
          <p:cNvSpPr>
            <a:spLocks noGrp="1"/>
          </p:cNvSpPr>
          <p:nvPr>
            <p:ph idx="1"/>
          </p:nvPr>
        </p:nvSpPr>
        <p:spPr/>
        <p:txBody>
          <a:bodyPr/>
          <a:lstStyle/>
          <a:p>
            <a:r>
              <a:t>- Simple &amp; compound triggers</a:t>
            </a:r>
          </a:p>
          <a:p>
            <a:r>
              <a:t>- Business rules</a:t>
            </a:r>
          </a:p>
          <a:p>
            <a:r>
              <a:t>- Holiday restrictions</a:t>
            </a:r>
          </a:p>
          <a:p>
            <a:r>
              <a:t>- Auditing</a:t>
            </a:r>
          </a:p>
          <a:p>
            <a:r>
              <a:t>- Exception handling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Intelligence</a:t>
            </a:r>
          </a:p>
        </p:txBody>
      </p:sp>
      <p:sp>
        <p:nvSpPr>
          <p:cNvPr id="3" name="Content Placeholder 2"/>
          <p:cNvSpPr>
            <a:spLocks noGrp="1"/>
          </p:cNvSpPr>
          <p:nvPr>
            <p:ph idx="1"/>
          </p:nvPr>
        </p:nvSpPr>
        <p:spPr/>
        <p:txBody>
          <a:bodyPr/>
          <a:lstStyle/>
          <a:p>
            <a:r>
              <a:t>- Bed occupancy KPIs</a:t>
            </a:r>
          </a:p>
          <a:p>
            <a:r>
              <a:t>- Emergency trends</a:t>
            </a:r>
          </a:p>
          <a:p>
            <a:r>
              <a:t>- Audit dashboard</a:t>
            </a:r>
          </a:p>
          <a:p>
            <a:r>
              <a:t>- Performance monitoring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Results &amp; Testing</a:t>
            </a:r>
          </a:p>
        </p:txBody>
      </p:sp>
      <p:sp>
        <p:nvSpPr>
          <p:cNvPr id="3" name="Content Placeholder 2"/>
          <p:cNvSpPr>
            <a:spLocks noGrp="1"/>
          </p:cNvSpPr>
          <p:nvPr>
            <p:ph idx="1"/>
          </p:nvPr>
        </p:nvSpPr>
        <p:spPr>
          <a:xfrm>
            <a:off x="1" y="2015733"/>
            <a:ext cx="1613819" cy="1049235"/>
          </a:xfrm>
        </p:spPr>
        <p:txBody>
          <a:bodyPr>
            <a:normAutofit fontScale="40000" lnSpcReduction="20000"/>
          </a:bodyPr>
          <a:lstStyle/>
          <a:p>
            <a:r>
              <a:rPr dirty="0"/>
              <a:t>- Triggers tested</a:t>
            </a:r>
          </a:p>
          <a:p>
            <a:r>
              <a:rPr dirty="0"/>
              <a:t>- Business rules enforced</a:t>
            </a:r>
          </a:p>
          <a:p>
            <a:r>
              <a:rPr dirty="0"/>
              <a:t>- Audit logs verified</a:t>
            </a:r>
          </a:p>
          <a:p>
            <a:r>
              <a:rPr dirty="0"/>
              <a:t>- Data integrity ensured</a:t>
            </a:r>
            <a:endParaRPr lang="en-US" dirty="0"/>
          </a:p>
          <a:p>
            <a:endParaRPr dirty="0"/>
          </a:p>
        </p:txBody>
      </p:sp>
      <p:pic>
        <p:nvPicPr>
          <p:cNvPr id="5" name="Picture 4">
            <a:extLst>
              <a:ext uri="{FF2B5EF4-FFF2-40B4-BE49-F238E27FC236}">
                <a16:creationId xmlns:a16="http://schemas.microsoft.com/office/drawing/2014/main" id="{B42442E0-EB79-8344-1F70-C71213B94B1A}"/>
              </a:ext>
            </a:extLst>
          </p:cNvPr>
          <p:cNvPicPr>
            <a:picLocks noChangeAspect="1"/>
          </p:cNvPicPr>
          <p:nvPr/>
        </p:nvPicPr>
        <p:blipFill>
          <a:blip r:embed="rId3"/>
          <a:stretch>
            <a:fillRect/>
          </a:stretch>
        </p:blipFill>
        <p:spPr>
          <a:xfrm>
            <a:off x="1416597" y="1450344"/>
            <a:ext cx="7095882" cy="44287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rPr dirty="0"/>
              <a:t>- Improved emergency response</a:t>
            </a:r>
          </a:p>
          <a:p>
            <a:r>
              <a:rPr dirty="0"/>
              <a:t>- Automated decision-making</a:t>
            </a:r>
          </a:p>
          <a:p>
            <a:r>
              <a:rPr dirty="0"/>
              <a:t>- Secure and reliable system</a:t>
            </a:r>
          </a:p>
          <a:p>
            <a:r>
              <a:rPr dirty="0"/>
              <a:t>- Questions</a:t>
            </a:r>
            <a:endParaRPr lang="en-US" dirty="0"/>
          </a:p>
          <a:p>
            <a:endParaRPr lang="en-US" dirty="0"/>
          </a:p>
          <a:p>
            <a:pPr marL="0" indent="0" algn="ctr">
              <a:buNone/>
            </a:pPr>
            <a:r>
              <a:rPr lang="en-US" b="1" dirty="0">
                <a:latin typeface="Arial Black" panose="020B0A04020102020204" pitchFamily="34" charset="0"/>
              </a:rPr>
              <a:t>THANK YOU!!!</a:t>
            </a:r>
            <a:endParaRPr b="1" dirty="0">
              <a:latin typeface="Arial Black" panose="020B0A04020102020204" pitchFamily="34" charset="0"/>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84</TotalTime>
  <Words>458</Words>
  <Application>Microsoft Office PowerPoint</Application>
  <PresentationFormat>On-screen Show (4:3)</PresentationFormat>
  <Paragraphs>68</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Gill Sans MT</vt:lpstr>
      <vt:lpstr>Gallery</vt:lpstr>
      <vt:lpstr>Emergency Response and Bed Availability Tracker</vt:lpstr>
      <vt:lpstr>Problem Statement</vt:lpstr>
      <vt:lpstr>Proposed Solution</vt:lpstr>
      <vt:lpstr>Database Design  </vt:lpstr>
      <vt:lpstr>Business Process</vt:lpstr>
      <vt:lpstr>Technology Stack</vt:lpstr>
      <vt:lpstr>Advanced Features</vt:lpstr>
      <vt:lpstr>Business Intelligence</vt:lpstr>
      <vt:lpstr>Results &amp; Testing</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Benjamin NTIHINYURWA</cp:lastModifiedBy>
  <cp:revision>6</cp:revision>
  <dcterms:created xsi:type="dcterms:W3CDTF">2013-01-27T09:14:16Z</dcterms:created>
  <dcterms:modified xsi:type="dcterms:W3CDTF">2025-12-19T15:02:27Z</dcterms:modified>
  <cp:category/>
</cp:coreProperties>
</file>